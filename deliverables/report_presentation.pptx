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6256000" cy="9144000"/>
  <p:notesSz cx="9144000" cy="16256000"/>
  <p:embeddedFontLst>
    <p:embeddedFont>
      <p:font typeface="Quattrocento Sans" charset="-122" pitchFamily="34"/>
      <p:regular r:id="rId1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3" name="Text 1"/>
          <p:cNvSpPr/>
          <p:nvPr/>
        </p:nvSpPr>
        <p:spPr>
          <a:xfrm>
            <a:off x="1524000" y="2540000"/>
            <a:ext cx="1320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4000" b="1" spc="200" kern="0" dirty="0">
                <a:solidFill>
                  <a:srgbClr val="B8733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Renewable Energy Output Prediction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540000" y="3746500"/>
            <a:ext cx="1117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E07C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Using Artificial Neural Networks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588000" y="4597400"/>
            <a:ext cx="5080000" cy="381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6" name="Text 4"/>
          <p:cNvSpPr/>
          <p:nvPr/>
        </p:nvSpPr>
        <p:spPr>
          <a:xfrm>
            <a:off x="2540000" y="4851400"/>
            <a:ext cx="11176000" cy="238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4A4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CCS 229 Intelligent Systems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4A4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Dallas A. Aquino, Frederick Jibril L. Buñag, Ethan Jed V. Carbonell, Vincent L. Corpes Jr.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4A4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Presented to: Mr. Cyreneo S. Dofitas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4A4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April 2026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9067800"/>
            <a:ext cx="16256000" cy="762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8" name="Text 6"/>
          <p:cNvSpPr/>
          <p:nvPr/>
        </p:nvSpPr>
        <p:spPr>
          <a:xfrm>
            <a:off x="7552488" y="4809067"/>
            <a:ext cx="2213508" cy="269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47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spc="100" kern="0" dirty="0">
                <a:solidFill>
                  <a:srgbClr val="B8733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PROBLEM &amp; MOTIVATION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079500"/>
            <a:ext cx="14732000" cy="381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97000"/>
            <a:ext cx="7112000" cy="431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4A4A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Solar energy output is highly variable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4A4A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driven by cloud cover, temperature, wind speed, humidity, and time of day.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4A4A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Traditional linear regression </a:t>
            </a:r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4A4A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cannot capture</a:t>
            </a:r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4A4A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these complex nonlinear relationships.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4A4A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Research Question:</a:t>
            </a:r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4A4A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Can an ANN accurately predict hourly solar energy output from weather data?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4A4A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Location:</a:t>
            </a:r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4A4A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Madrid, Spain (40.4°N, 3.7°W) — a high-solar-potential Mediterranean site with ~1,700 kWh/m² annual GHI.</a:t>
            </a:r>
            <a:endParaRPr lang="en-US" sz="1800" dirty="0"/>
          </a:p>
        </p:txBody>
      </p:sp>
      <p:pic>
        <p:nvPicPr>
          <p:cNvPr id="5" name="Image 0" descr="https://kimi-img.moonshot.cn/pub/slides/okc/ylj2qmvexsuhy/mnt/agents/output/renewable_energy_ann/figures/monthly_avg_output.png">    </p:cNvPr>
          <p:cNvPicPr>
            <a:picLocks noChangeAspect="1"/>
          </p:cNvPicPr>
          <p:nvPr/>
        </p:nvPicPr>
        <p:blipFill>
          <a:blip r:embed="rId1"/>
          <a:srcRect l="0" r="0" t="-595" b="-595"/>
          <a:stretch/>
        </p:blipFill>
        <p:spPr>
          <a:xfrm>
            <a:off x="8382000" y="1397000"/>
            <a:ext cx="7112000" cy="4318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82000" y="5816600"/>
            <a:ext cx="7112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9E9E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Monthly average solar energy output (kWh) — strong summer peak pattern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62000" y="6350000"/>
            <a:ext cx="14732000" cy="1651000"/>
          </a:xfrm>
          <a:prstGeom prst="rect">
            <a:avLst/>
          </a:prstGeom>
          <a:solidFill>
            <a:srgbClr val="F0EDE8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16000" y="6540500"/>
            <a:ext cx="1422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4A4A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Accurate short-term forecasting enables better reserve scheduling, reduces curtailment, and lowers grid integration costs. Improving forecast accuracy by 10% can reduce integration costs by up to 30% (IEA).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E9E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 / 7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47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spc="100" kern="0" dirty="0">
                <a:solidFill>
                  <a:srgbClr val="B8733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DATASET &amp; METHODOLOGY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079500"/>
            <a:ext cx="14732000" cy="381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335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Sources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1803400"/>
            <a:ext cx="7112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4A4A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PVGIS API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4A4A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(European Commission JRC): PV output, irradiance, temperature, wind speed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4A4A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NASA POWER API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4A4A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 Humidity, Global Horizontal Irradiance (GHI)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4A4A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Period: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4A4A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Full leap year 2020 — 8,784 hourly observations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4A4A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Location: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4A4A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Madrid, Spain (40.4°N, 3.7°W)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0" y="13335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 Features &amp; Target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82000" y="1803400"/>
            <a:ext cx="7112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4A4A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Inputs (X):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4A4A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irradiance, temperature, wind_speed, humidity, hour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4A4A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Target (y):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4A4A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energy_kwh (hourly PV output)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4A4A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Normalization: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4A4A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MinMaxScaler [0, 1]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4A4A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Time features: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4A4A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hour, day_of_week, month, season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62000" y="40640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Chronological Split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4673600"/>
          <a:ext cx="7112000" cy="1778000"/>
        </p:xfrm>
        <a:graphic>
          <a:graphicData uri="http://schemas.openxmlformats.org/drawingml/2006/table">
            <a:tbl>
              <a:tblPr/>
              <a:tblGrid>
                <a:gridCol w="2489200"/>
                <a:gridCol w="1778000"/>
                <a:gridCol w="1422400"/>
                <a:gridCol w="1422400"/>
              </a:tblGrid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Partition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7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Date Range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7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Samples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7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Fraction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7333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4A4A4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Training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4A4A4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Jan — Sep 4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4A4A4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6,148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4A4A4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70%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4A4A4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Validation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4A4A4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Sep 5 — Nov 15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4A4A4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1,318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4A4A4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15%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4A4A4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Test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4A4A4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Nov 16 — Dec 31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4A4A4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1,318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4A4A4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15%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0" name="Image 0" descr="https://kimi-img.moonshot.cn/pub/slides/okc/ylj2qmvexsuhy/mnt/agents/output/renewable_energy_ann/figures/correlation_heatmap.png">    </p:cNvPr>
          <p:cNvPicPr>
            <a:picLocks noChangeAspect="1"/>
          </p:cNvPicPr>
          <p:nvPr/>
        </p:nvPicPr>
        <p:blipFill>
          <a:blip r:embed="rId1"/>
          <a:srcRect l="-17857" r="-17857" t="0" b="0"/>
          <a:stretch/>
        </p:blipFill>
        <p:spPr>
          <a:xfrm>
            <a:off x="8382000" y="4064000"/>
            <a:ext cx="7112000" cy="38100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382000" y="7950200"/>
            <a:ext cx="7112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9E9E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Feature correlation heatmap — irradiance dominates (r ≈ 0.998)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E9E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 / 7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47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spc="100" kern="0" dirty="0">
                <a:solidFill>
                  <a:srgbClr val="B8733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ANN ARCHITECTURE &amp; TRAINING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079500"/>
            <a:ext cx="14732000" cy="381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97000"/>
            <a:ext cx="177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 (5)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143000" y="1841500"/>
            <a:ext cx="1016000" cy="457200"/>
          </a:xfrm>
          <a:prstGeom prst="roundRect">
            <a:avLst>
              <a:gd name="adj" fmla="val 8000"/>
            </a:avLst>
          </a:prstGeom>
          <a:solidFill>
            <a:srgbClr val="D4E6B5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841500"/>
            <a:ext cx="101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4A4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irradiance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43000" y="2476500"/>
            <a:ext cx="1016000" cy="457200"/>
          </a:xfrm>
          <a:prstGeom prst="roundRect">
            <a:avLst>
              <a:gd name="adj" fmla="val 8000"/>
            </a:avLst>
          </a:prstGeom>
          <a:solidFill>
            <a:srgbClr val="D4E6B5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2476500"/>
            <a:ext cx="101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4A4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143000" y="3111500"/>
            <a:ext cx="1016000" cy="457200"/>
          </a:xfrm>
          <a:prstGeom prst="roundRect">
            <a:avLst>
              <a:gd name="adj" fmla="val 8000"/>
            </a:avLst>
          </a:prstGeom>
          <a:solidFill>
            <a:srgbClr val="D4E6B5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3111500"/>
            <a:ext cx="101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4A4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wind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143000" y="3746500"/>
            <a:ext cx="1016000" cy="457200"/>
          </a:xfrm>
          <a:prstGeom prst="roundRect">
            <a:avLst>
              <a:gd name="adj" fmla="val 8000"/>
            </a:avLst>
          </a:prstGeom>
          <a:solidFill>
            <a:srgbClr val="D4E6B5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3746500"/>
            <a:ext cx="101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4A4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humidity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143000" y="4381500"/>
            <a:ext cx="1016000" cy="457200"/>
          </a:xfrm>
          <a:prstGeom prst="roundRect">
            <a:avLst>
              <a:gd name="adj" fmla="val 8000"/>
            </a:avLst>
          </a:prstGeom>
          <a:solidFill>
            <a:srgbClr val="D4E6B5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4381500"/>
            <a:ext cx="101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4A4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hour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02000" y="1397000"/>
            <a:ext cx="228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HIDDEN 1 (10)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683000" y="1841500"/>
            <a:ext cx="1524000" cy="457200"/>
          </a:xfrm>
          <a:prstGeom prst="roundRect">
            <a:avLst>
              <a:gd name="adj" fmla="val 8000"/>
            </a:avLst>
          </a:prstGeom>
          <a:solidFill>
            <a:srgbClr val="F5D0A9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83000" y="1841500"/>
            <a:ext cx="152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4A4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ReLU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683000" y="2476500"/>
            <a:ext cx="1524000" cy="457200"/>
          </a:xfrm>
          <a:prstGeom prst="roundRect">
            <a:avLst>
              <a:gd name="adj" fmla="val 8000"/>
            </a:avLst>
          </a:prstGeom>
          <a:solidFill>
            <a:srgbClr val="F5D0A9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83000" y="2476500"/>
            <a:ext cx="152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4A4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ReLU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683000" y="3111500"/>
            <a:ext cx="1524000" cy="457200"/>
          </a:xfrm>
          <a:prstGeom prst="roundRect">
            <a:avLst>
              <a:gd name="adj" fmla="val 8000"/>
            </a:avLst>
          </a:prstGeom>
          <a:solidFill>
            <a:srgbClr val="F5D0A9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83000" y="3111500"/>
            <a:ext cx="152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4A4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ReLU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683000" y="3746500"/>
            <a:ext cx="152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9E9E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... (7 more)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50000" y="1397000"/>
            <a:ext cx="203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HIDDEN 2 (8)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604000" y="2095500"/>
            <a:ext cx="1524000" cy="457200"/>
          </a:xfrm>
          <a:prstGeom prst="roundRect">
            <a:avLst>
              <a:gd name="adj" fmla="val 8000"/>
            </a:avLst>
          </a:prstGeom>
          <a:solidFill>
            <a:srgbClr val="F5D0A9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04000" y="2095500"/>
            <a:ext cx="152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4A4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ReLU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604000" y="2857500"/>
            <a:ext cx="1524000" cy="457200"/>
          </a:xfrm>
          <a:prstGeom prst="roundRect">
            <a:avLst>
              <a:gd name="adj" fmla="val 8000"/>
            </a:avLst>
          </a:prstGeom>
          <a:solidFill>
            <a:srgbClr val="F5D0A9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04000" y="2857500"/>
            <a:ext cx="152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4A4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ReLU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604000" y="3568700"/>
            <a:ext cx="152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9E9E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... (6 more)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144000" y="1397000"/>
            <a:ext cx="177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OUTPUT (1)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271000" y="2476500"/>
            <a:ext cx="1524000" cy="457200"/>
          </a:xfrm>
          <a:prstGeom prst="roundRect">
            <a:avLst>
              <a:gd name="adj" fmla="val 8000"/>
            </a:avLst>
          </a:prstGeom>
          <a:solidFill>
            <a:srgbClr val="F5A9A9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71000" y="2476500"/>
            <a:ext cx="152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4A4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Linear → kWh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2159000" y="2076298"/>
            <a:ext cx="1524000" cy="628802"/>
          </a:xfrm>
          <a:prstGeom prst="straightConnector1">
            <a:avLst/>
          </a:prstGeom>
          <a:noFill/>
          <a:ln w="25400">
            <a:solidFill>
              <a:srgbClr val="9E9E9E"/>
            </a:solidFill>
            <a:prstDash val="solid"/>
            <a:headEnd type="none"/>
            <a:tailEnd type="arrow"/>
          </a:ln>
        </p:spPr>
      </p:sp>
      <p:sp>
        <p:nvSpPr>
          <p:cNvPr id="33" name="Shape 31"/>
          <p:cNvSpPr/>
          <p:nvPr/>
        </p:nvSpPr>
        <p:spPr>
          <a:xfrm>
            <a:off x="5207000" y="2705100"/>
            <a:ext cx="1397000" cy="381000"/>
          </a:xfrm>
          <a:prstGeom prst="straightConnector1">
            <a:avLst/>
          </a:prstGeom>
          <a:noFill/>
          <a:ln w="25400">
            <a:solidFill>
              <a:srgbClr val="9E9E9E"/>
            </a:solidFill>
            <a:prstDash val="solid"/>
            <a:headEnd type="none"/>
            <a:tailEnd type="arrow"/>
          </a:ln>
        </p:spPr>
      </p:sp>
      <p:sp>
        <p:nvSpPr>
          <p:cNvPr id="34" name="Shape 32"/>
          <p:cNvSpPr/>
          <p:nvPr/>
        </p:nvSpPr>
        <p:spPr>
          <a:xfrm>
            <a:off x="8128000" y="2298700"/>
            <a:ext cx="1143000" cy="406400"/>
          </a:xfrm>
          <a:prstGeom prst="straightConnector1">
            <a:avLst/>
          </a:prstGeom>
          <a:noFill/>
          <a:ln w="25400">
            <a:solidFill>
              <a:srgbClr val="9E9E9E"/>
            </a:solidFill>
            <a:prstDash val="solid"/>
            <a:headEnd type="none"/>
            <a:tailEnd type="arrow"/>
          </a:ln>
        </p:spPr>
      </p:sp>
      <p:sp>
        <p:nvSpPr>
          <p:cNvPr id="35" name="Text 33"/>
          <p:cNvSpPr/>
          <p:nvPr/>
        </p:nvSpPr>
        <p:spPr>
          <a:xfrm>
            <a:off x="762000" y="5334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Training Configuration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62000" y="5816600"/>
            <a:ext cx="5080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4A4A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Loss: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4A4A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Mean Squared Error (MSE)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4A4A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Optimizer: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4A4A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Adam (lr = 0.001)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4A4A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Epochs: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4A4A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150 (early stopping)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4A4A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Batch size: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4A4A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32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4A4A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Patience: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4A4A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10 epochs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4A4A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Best epoch: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4A4A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25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4A4A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Total params: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4A4A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157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350000" y="5334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Backpropagation Steps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350000" y="5816600"/>
            <a:ext cx="9144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4A4A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1.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4A4A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Forward pass: compute prediction ŷ through layers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4A4A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2.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4A4A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Loss: MSE = (1/N) Σ(yᵢ − ŷᵢ)²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4A4A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3.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4A4A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Backward pass: propagate error gradients via chain rule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4A4A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4.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4A4A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Update: w_new = w_old − η · ∂L/∂w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i="1" dirty="0">
                <a:solidFill>
                  <a:srgbClr val="4A4A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Reference: Negnevitsky (2005), §6.4 — Backpropagation Learning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E9E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 / 7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2159000" y="2705100"/>
            <a:ext cx="1524000" cy="628802"/>
          </a:xfrm>
          <a:prstGeom prst="straightConnector1">
            <a:avLst/>
          </a:prstGeom>
          <a:noFill/>
          <a:ln w="25400">
            <a:solidFill>
              <a:srgbClr val="9E9E9E"/>
            </a:solidFill>
            <a:prstDash val="solid"/>
            <a:headEnd type="none"/>
            <a:tailEnd type="arrow"/>
          </a:ln>
        </p:spPr>
      </p:sp>
      <p:sp>
        <p:nvSpPr>
          <p:cNvPr id="41" name="Shape 39"/>
          <p:cNvSpPr/>
          <p:nvPr/>
        </p:nvSpPr>
        <p:spPr>
          <a:xfrm flipV="1">
            <a:off x="2159000" y="2070100"/>
            <a:ext cx="1524000" cy="1270000"/>
          </a:xfrm>
          <a:prstGeom prst="straightConnector1">
            <a:avLst/>
          </a:prstGeom>
          <a:noFill/>
          <a:ln w="25400">
            <a:solidFill>
              <a:srgbClr val="9E9E9E"/>
            </a:solidFill>
            <a:prstDash val="solid"/>
            <a:headEnd type="none"/>
            <a:tailEnd type="arrow"/>
          </a:ln>
        </p:spPr>
      </p:sp>
      <p:sp>
        <p:nvSpPr>
          <p:cNvPr id="42" name="Shape 40"/>
          <p:cNvSpPr/>
          <p:nvPr/>
        </p:nvSpPr>
        <p:spPr>
          <a:xfrm flipV="1">
            <a:off x="2159000" y="3340100"/>
            <a:ext cx="1524000" cy="635000"/>
          </a:xfrm>
          <a:prstGeom prst="straightConnector1">
            <a:avLst/>
          </a:prstGeom>
          <a:noFill/>
          <a:ln w="25400">
            <a:solidFill>
              <a:srgbClr val="9E9E9E"/>
            </a:solidFill>
            <a:prstDash val="solid"/>
            <a:headEnd type="none"/>
            <a:tailEnd type="arrow"/>
          </a:ln>
        </p:spPr>
      </p:sp>
      <p:sp>
        <p:nvSpPr>
          <p:cNvPr id="43" name="Shape 41"/>
          <p:cNvSpPr/>
          <p:nvPr/>
        </p:nvSpPr>
        <p:spPr>
          <a:xfrm flipV="1">
            <a:off x="2159000" y="3340100"/>
            <a:ext cx="1524000" cy="1270000"/>
          </a:xfrm>
          <a:prstGeom prst="straightConnector1">
            <a:avLst/>
          </a:prstGeom>
          <a:noFill/>
          <a:ln w="25400">
            <a:solidFill>
              <a:srgbClr val="9E9E9E"/>
            </a:solidFill>
            <a:prstDash val="solid"/>
            <a:headEnd type="none"/>
            <a:tailEnd type="arrow"/>
          </a:ln>
        </p:spPr>
      </p:sp>
      <p:sp>
        <p:nvSpPr>
          <p:cNvPr id="44" name="Shape 42"/>
          <p:cNvSpPr/>
          <p:nvPr/>
        </p:nvSpPr>
        <p:spPr>
          <a:xfrm>
            <a:off x="2159000" y="2070100"/>
            <a:ext cx="1524000" cy="0"/>
          </a:xfrm>
          <a:prstGeom prst="straightConnector1">
            <a:avLst/>
          </a:prstGeom>
          <a:noFill/>
          <a:ln w="25400">
            <a:solidFill>
              <a:srgbClr val="9E9E9E"/>
            </a:solidFill>
            <a:prstDash val="solid"/>
            <a:headEnd type="none"/>
            <a:tailEnd type="arrow"/>
          </a:ln>
        </p:spPr>
      </p:sp>
      <p:sp>
        <p:nvSpPr>
          <p:cNvPr id="45" name="Shape 43"/>
          <p:cNvSpPr/>
          <p:nvPr/>
        </p:nvSpPr>
        <p:spPr>
          <a:xfrm>
            <a:off x="2159000" y="2705100"/>
            <a:ext cx="1524000" cy="0"/>
          </a:xfrm>
          <a:prstGeom prst="straightConnector1">
            <a:avLst/>
          </a:prstGeom>
          <a:noFill/>
          <a:ln w="25400">
            <a:solidFill>
              <a:srgbClr val="9E9E9E"/>
            </a:solidFill>
            <a:prstDash val="solid"/>
            <a:headEnd type="none"/>
            <a:tailEnd type="arrow"/>
          </a:ln>
        </p:spPr>
      </p:sp>
      <p:sp>
        <p:nvSpPr>
          <p:cNvPr id="46" name="Shape 44"/>
          <p:cNvSpPr/>
          <p:nvPr/>
        </p:nvSpPr>
        <p:spPr>
          <a:xfrm>
            <a:off x="2159000" y="3340100"/>
            <a:ext cx="1524000" cy="0"/>
          </a:xfrm>
          <a:prstGeom prst="straightConnector1">
            <a:avLst/>
          </a:prstGeom>
          <a:noFill/>
          <a:ln w="25400">
            <a:solidFill>
              <a:srgbClr val="9E9E9E"/>
            </a:solidFill>
            <a:prstDash val="solid"/>
            <a:headEnd type="none"/>
            <a:tailEnd type="arrow"/>
          </a:ln>
        </p:spPr>
      </p:sp>
      <p:sp>
        <p:nvSpPr>
          <p:cNvPr id="47" name="Shape 45"/>
          <p:cNvSpPr/>
          <p:nvPr/>
        </p:nvSpPr>
        <p:spPr>
          <a:xfrm flipV="1">
            <a:off x="2159000" y="2705100"/>
            <a:ext cx="1524000" cy="1270000"/>
          </a:xfrm>
          <a:prstGeom prst="straightConnector1">
            <a:avLst/>
          </a:prstGeom>
          <a:noFill/>
          <a:ln w="25400">
            <a:solidFill>
              <a:srgbClr val="9E9E9E"/>
            </a:solidFill>
            <a:prstDash val="solid"/>
            <a:headEnd type="none"/>
            <a:tailEnd type="arrow"/>
          </a:ln>
        </p:spPr>
      </p:sp>
      <p:sp>
        <p:nvSpPr>
          <p:cNvPr id="48" name="Shape 46"/>
          <p:cNvSpPr/>
          <p:nvPr/>
        </p:nvSpPr>
        <p:spPr>
          <a:xfrm flipV="1">
            <a:off x="2159000" y="2705100"/>
            <a:ext cx="1524000" cy="1905000"/>
          </a:xfrm>
          <a:prstGeom prst="straightConnector1">
            <a:avLst/>
          </a:prstGeom>
          <a:noFill/>
          <a:ln w="25400">
            <a:solidFill>
              <a:srgbClr val="9E9E9E"/>
            </a:solidFill>
            <a:prstDash val="solid"/>
            <a:headEnd type="none"/>
            <a:tailEnd type="arrow"/>
          </a:ln>
        </p:spPr>
      </p:sp>
      <p:sp>
        <p:nvSpPr>
          <p:cNvPr id="49" name="Shape 47"/>
          <p:cNvSpPr/>
          <p:nvPr/>
        </p:nvSpPr>
        <p:spPr>
          <a:xfrm>
            <a:off x="2159000" y="2070100"/>
            <a:ext cx="1524000" cy="1270000"/>
          </a:xfrm>
          <a:prstGeom prst="straightConnector1">
            <a:avLst/>
          </a:prstGeom>
          <a:noFill/>
          <a:ln w="25400">
            <a:solidFill>
              <a:srgbClr val="9E9E9E"/>
            </a:solidFill>
            <a:prstDash val="solid"/>
            <a:headEnd type="none"/>
            <a:tailEnd type="arrow"/>
          </a:ln>
        </p:spPr>
      </p:sp>
      <p:sp>
        <p:nvSpPr>
          <p:cNvPr id="50" name="Shape 48"/>
          <p:cNvSpPr/>
          <p:nvPr/>
        </p:nvSpPr>
        <p:spPr>
          <a:xfrm flipV="1">
            <a:off x="2159000" y="2070100"/>
            <a:ext cx="1524000" cy="635000"/>
          </a:xfrm>
          <a:prstGeom prst="straightConnector1">
            <a:avLst/>
          </a:prstGeom>
          <a:noFill/>
          <a:ln w="25400">
            <a:solidFill>
              <a:srgbClr val="9E9E9E"/>
            </a:solidFill>
            <a:prstDash val="solid"/>
            <a:headEnd type="none"/>
            <a:tailEnd type="arrow"/>
          </a:ln>
        </p:spPr>
      </p:sp>
      <p:sp>
        <p:nvSpPr>
          <p:cNvPr id="51" name="Shape 49"/>
          <p:cNvSpPr/>
          <p:nvPr/>
        </p:nvSpPr>
        <p:spPr>
          <a:xfrm flipV="1">
            <a:off x="2159000" y="2705100"/>
            <a:ext cx="1524000" cy="635000"/>
          </a:xfrm>
          <a:prstGeom prst="straightConnector1">
            <a:avLst/>
          </a:prstGeom>
          <a:noFill/>
          <a:ln w="25400">
            <a:solidFill>
              <a:srgbClr val="9E9E9E"/>
            </a:solidFill>
            <a:prstDash val="solid"/>
            <a:headEnd type="none"/>
            <a:tailEnd type="arrow"/>
          </a:ln>
        </p:spPr>
      </p:sp>
      <p:sp>
        <p:nvSpPr>
          <p:cNvPr id="52" name="Shape 50"/>
          <p:cNvSpPr/>
          <p:nvPr/>
        </p:nvSpPr>
        <p:spPr>
          <a:xfrm flipV="1">
            <a:off x="2159000" y="2070100"/>
            <a:ext cx="1524000" cy="2540000"/>
          </a:xfrm>
          <a:prstGeom prst="straightConnector1">
            <a:avLst/>
          </a:prstGeom>
          <a:noFill/>
          <a:ln w="25400">
            <a:solidFill>
              <a:srgbClr val="9E9E9E"/>
            </a:solidFill>
            <a:prstDash val="solid"/>
            <a:headEnd type="none"/>
            <a:tailEnd type="arrow"/>
          </a:ln>
        </p:spPr>
      </p:sp>
      <p:sp>
        <p:nvSpPr>
          <p:cNvPr id="53" name="Shape 51"/>
          <p:cNvSpPr/>
          <p:nvPr/>
        </p:nvSpPr>
        <p:spPr>
          <a:xfrm flipV="1">
            <a:off x="2159000" y="2070100"/>
            <a:ext cx="1524000" cy="1905000"/>
          </a:xfrm>
          <a:prstGeom prst="straightConnector1">
            <a:avLst/>
          </a:prstGeom>
          <a:noFill/>
          <a:ln w="25400">
            <a:solidFill>
              <a:srgbClr val="9E9E9E"/>
            </a:solidFill>
            <a:prstDash val="solid"/>
            <a:headEnd type="none"/>
            <a:tailEnd type="arrow"/>
          </a:ln>
        </p:spPr>
      </p:sp>
      <p:sp>
        <p:nvSpPr>
          <p:cNvPr id="54" name="Shape 52"/>
          <p:cNvSpPr/>
          <p:nvPr/>
        </p:nvSpPr>
        <p:spPr>
          <a:xfrm>
            <a:off x="5207000" y="2070100"/>
            <a:ext cx="1397000" cy="254000"/>
          </a:xfrm>
          <a:prstGeom prst="straightConnector1">
            <a:avLst/>
          </a:prstGeom>
          <a:noFill/>
          <a:ln w="25400">
            <a:solidFill>
              <a:srgbClr val="9E9E9E"/>
            </a:solidFill>
            <a:prstDash val="solid"/>
            <a:headEnd type="none"/>
            <a:tailEnd type="arrow"/>
          </a:ln>
        </p:spPr>
      </p:sp>
      <p:sp>
        <p:nvSpPr>
          <p:cNvPr id="55" name="Shape 53"/>
          <p:cNvSpPr/>
          <p:nvPr/>
        </p:nvSpPr>
        <p:spPr>
          <a:xfrm flipV="1">
            <a:off x="5207000" y="3086100"/>
            <a:ext cx="1397000" cy="254000"/>
          </a:xfrm>
          <a:prstGeom prst="straightConnector1">
            <a:avLst/>
          </a:prstGeom>
          <a:noFill/>
          <a:ln w="25400">
            <a:solidFill>
              <a:srgbClr val="9E9E9E"/>
            </a:solidFill>
            <a:prstDash val="solid"/>
            <a:headEnd type="none"/>
            <a:tailEnd type="arrow"/>
          </a:ln>
        </p:spPr>
      </p:sp>
      <p:sp>
        <p:nvSpPr>
          <p:cNvPr id="56" name="Shape 54"/>
          <p:cNvSpPr/>
          <p:nvPr/>
        </p:nvSpPr>
        <p:spPr>
          <a:xfrm flipV="1">
            <a:off x="5207000" y="2324100"/>
            <a:ext cx="1397000" cy="381000"/>
          </a:xfrm>
          <a:prstGeom prst="straightConnector1">
            <a:avLst/>
          </a:prstGeom>
          <a:noFill/>
          <a:ln w="25400">
            <a:solidFill>
              <a:srgbClr val="9E9E9E"/>
            </a:solidFill>
            <a:prstDash val="solid"/>
            <a:headEnd type="none"/>
            <a:tailEnd type="arrow"/>
          </a:ln>
        </p:spPr>
      </p:sp>
      <p:sp>
        <p:nvSpPr>
          <p:cNvPr id="57" name="Shape 55"/>
          <p:cNvSpPr/>
          <p:nvPr/>
        </p:nvSpPr>
        <p:spPr>
          <a:xfrm>
            <a:off x="5207000" y="2108200"/>
            <a:ext cx="1397000" cy="977900"/>
          </a:xfrm>
          <a:prstGeom prst="straightConnector1">
            <a:avLst/>
          </a:prstGeom>
          <a:noFill/>
          <a:ln w="25400">
            <a:solidFill>
              <a:srgbClr val="9E9E9E"/>
            </a:solidFill>
            <a:prstDash val="solid"/>
            <a:headEnd type="none"/>
            <a:tailEnd type="arrow"/>
          </a:ln>
        </p:spPr>
      </p:sp>
      <p:sp>
        <p:nvSpPr>
          <p:cNvPr id="58" name="Shape 56"/>
          <p:cNvSpPr/>
          <p:nvPr/>
        </p:nvSpPr>
        <p:spPr>
          <a:xfrm flipV="1">
            <a:off x="5207000" y="2324100"/>
            <a:ext cx="1397000" cy="1016000"/>
          </a:xfrm>
          <a:prstGeom prst="straightConnector1">
            <a:avLst/>
          </a:prstGeom>
          <a:noFill/>
          <a:ln w="25400">
            <a:solidFill>
              <a:srgbClr val="9E9E9E"/>
            </a:solidFill>
            <a:prstDash val="solid"/>
            <a:headEnd type="none"/>
            <a:tailEnd type="arrow"/>
          </a:ln>
        </p:spPr>
      </p:sp>
      <p:sp>
        <p:nvSpPr>
          <p:cNvPr id="59" name="Shape 57"/>
          <p:cNvSpPr/>
          <p:nvPr/>
        </p:nvSpPr>
        <p:spPr>
          <a:xfrm flipV="1">
            <a:off x="8128000" y="2705100"/>
            <a:ext cx="1143000" cy="381000"/>
          </a:xfrm>
          <a:prstGeom prst="straightConnector1">
            <a:avLst/>
          </a:prstGeom>
          <a:noFill/>
          <a:ln w="25400">
            <a:solidFill>
              <a:srgbClr val="9E9E9E"/>
            </a:solidFill>
            <a:prstDash val="solid"/>
            <a:headEnd type="none"/>
            <a:tailEnd type="arrow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47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spc="100" kern="0" dirty="0">
                <a:solidFill>
                  <a:srgbClr val="B8733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TRAINING RESULTS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079500"/>
            <a:ext cx="14732000" cy="38100"/>
          </a:xfrm>
          <a:prstGeom prst="rect">
            <a:avLst/>
          </a:prstGeom>
          <a:solidFill>
            <a:srgbClr val="B87333"/>
          </a:solidFill>
          <a:ln/>
        </p:spPr>
      </p:sp>
      <p:pic>
        <p:nvPicPr>
          <p:cNvPr id="4" name="Image 0" descr="https://kimi-img.moonshot.cn/pub/slides/okc/ylj2qmvexsuhy/mnt/agents/output/renewable_energy_ann/figures/loss_curve.png">    </p:cNvPr>
          <p:cNvPicPr>
            <a:picLocks noChangeAspect="1"/>
          </p:cNvPicPr>
          <p:nvPr/>
        </p:nvPicPr>
        <p:blipFill>
          <a:blip r:embed="rId1"/>
          <a:srcRect l="0" r="0" t="-439" b="-439"/>
          <a:stretch/>
        </p:blipFill>
        <p:spPr>
          <a:xfrm>
            <a:off x="762000" y="1397000"/>
            <a:ext cx="9652000" cy="584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922000" y="1397000"/>
            <a:ext cx="4572000" cy="584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76000" y="16510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Observations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176000" y="2222500"/>
            <a:ext cx="4064000" cy="469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4A4A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Rapid convergence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4A4A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 first 10 epochs — loss drops from 0.052 to below 0.001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600" b="1" dirty="0">
                <a:solidFill>
                  <a:srgbClr val="4A4A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Best validation loss</a:t>
            </a:r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600" dirty="0">
                <a:solidFill>
                  <a:srgbClr val="4A4A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achieved at epoch 25, after which early stopping halts training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600" b="1" dirty="0">
                <a:solidFill>
                  <a:srgbClr val="4A4A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Small train-val gap</a:t>
            </a:r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600" dirty="0">
                <a:solidFill>
                  <a:srgbClr val="4A4A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indicates good generalization with minimal overfitting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600" b="1" dirty="0">
                <a:solidFill>
                  <a:srgbClr val="4A4A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 sign of divergence</a:t>
            </a:r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600" dirty="0">
                <a:solidFill>
                  <a:srgbClr val="4A4A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validation loss plateaus rather than rises, confirming appropriate model capacity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E9E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5 / 7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47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spc="100" kern="0" dirty="0">
                <a:solidFill>
                  <a:srgbClr val="B8733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EVALUATION &amp; PERFORMANCE COMPARISON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079500"/>
            <a:ext cx="14732000" cy="38100"/>
          </a:xfrm>
          <a:prstGeom prst="rect">
            <a:avLst/>
          </a:prstGeom>
          <a:solidFill>
            <a:srgbClr val="B87333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397000"/>
          <a:ext cx="7112000" cy="2032000"/>
        </p:xfrm>
        <a:graphic>
          <a:graphicData uri="http://schemas.openxmlformats.org/drawingml/2006/table">
            <a:tbl>
              <a:tblPr/>
              <a:tblGrid>
                <a:gridCol w="2489200"/>
                <a:gridCol w="1564640"/>
                <a:gridCol w="1564640"/>
                <a:gridCol w="1493520"/>
              </a:tblGrid>
              <a:tr h="56795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Model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7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RMSE (kWh)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7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MAE (kWh)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7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R²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7333"/>
                    </a:solidFill>
                  </a:tcPr>
                </a:tc>
              </a:tr>
              <a:tr h="73202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4A4A4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ANN (MLP)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07C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0.00386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07C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0.00295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07C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0.99969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202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4A4A4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Linear Regression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4A4A4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0.01642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4A4A4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0.01174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4A4A4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0.99442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62000" y="3683000"/>
            <a:ext cx="2159000" cy="1270000"/>
          </a:xfrm>
          <a:prstGeom prst="rect">
            <a:avLst/>
          </a:prstGeom>
          <a:solidFill>
            <a:srgbClr val="F0EDE8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89000" y="3784600"/>
            <a:ext cx="190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9E9E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RMSE Reduction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89000" y="4114800"/>
            <a:ext cx="190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E07C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76.5%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3175000" y="3683000"/>
            <a:ext cx="2159000" cy="1270000"/>
          </a:xfrm>
          <a:prstGeom prst="rect">
            <a:avLst/>
          </a:prstGeom>
          <a:solidFill>
            <a:srgbClr val="F0EDE8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302000" y="3784600"/>
            <a:ext cx="190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9E9E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MAE Reduction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302000" y="4114800"/>
            <a:ext cx="190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E07C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74.8%</a:t>
            </a:r>
            <a:endParaRPr lang="en-US" sz="3600" dirty="0"/>
          </a:p>
        </p:txBody>
      </p:sp>
      <p:sp>
        <p:nvSpPr>
          <p:cNvPr id="11" name="Shape 8"/>
          <p:cNvSpPr/>
          <p:nvPr/>
        </p:nvSpPr>
        <p:spPr>
          <a:xfrm>
            <a:off x="5588000" y="3683000"/>
            <a:ext cx="2286000" cy="1270000"/>
          </a:xfrm>
          <a:prstGeom prst="rect">
            <a:avLst/>
          </a:prstGeom>
          <a:solidFill>
            <a:srgbClr val="F0EDE8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15000" y="3784600"/>
            <a:ext cx="203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9E9E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R² (ANN)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715000" y="4114800"/>
            <a:ext cx="203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E07C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0.9997</a:t>
            </a:r>
            <a:endParaRPr lang="en-US" sz="3600" dirty="0"/>
          </a:p>
        </p:txBody>
      </p:sp>
      <p:pic>
        <p:nvPicPr>
          <p:cNvPr id="14" name="Image 0" descr="https://kimi-img.moonshot.cn/pub/slides/okc/ylj2qmvexsuhy/mnt/agents/output/renewable_energy_ann/figures/pred_vs_actual.png">    </p:cNvPr>
          <p:cNvPicPr>
            <a:picLocks noChangeAspect="1"/>
          </p:cNvPicPr>
          <p:nvPr/>
        </p:nvPicPr>
        <p:blipFill>
          <a:blip r:embed="rId1"/>
          <a:srcRect l="-14286" r="-14286" t="0" b="0"/>
          <a:stretch/>
        </p:blipFill>
        <p:spPr>
          <a:xfrm>
            <a:off x="8382000" y="1397000"/>
            <a:ext cx="7112000" cy="50800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382000" y="6578600"/>
            <a:ext cx="7112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9E9E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Predicted vs. Actual — tight clustering confirms near-perfect prediction accuracy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762000" y="5207000"/>
            <a:ext cx="7112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B8733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Error Analysis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4A4A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Best: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4A4A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Clear-sky conditions — residuals &lt; 0.001 kWh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4A4A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Worst: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4A4A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Partial cloud cover — rapid irradiance fluctuations at sub-hourly scales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4A4A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Night hours: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4A4A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Near-zero error — model correctly learns zero-output regime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i="1" dirty="0">
                <a:solidFill>
                  <a:srgbClr val="4A4A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Dominant error source: cloud dynamics not resolvable with hourly features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E9E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6 / 7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3" name="Text 1"/>
          <p:cNvSpPr/>
          <p:nvPr/>
        </p:nvSpPr>
        <p:spPr>
          <a:xfrm>
            <a:off x="1778000" y="152400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b="1" spc="200" kern="0" dirty="0">
                <a:solidFill>
                  <a:srgbClr val="B8733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 &amp; Future Work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588000" y="2540000"/>
            <a:ext cx="5080000" cy="381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5" name="Text 3"/>
          <p:cNvSpPr/>
          <p:nvPr/>
        </p:nvSpPr>
        <p:spPr>
          <a:xfrm>
            <a:off x="1778000" y="2794000"/>
            <a:ext cx="12700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B8733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4A4A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A 5-10-8-1 MLP achieves 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E07C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R² = 0.9997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4A4A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on hourly solar prediction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4A4A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ANN reduces prediction error by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E07C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76.5%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4A4A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vs. linear regression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4A4A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ReLU activations successfully capture nonlinear irradiance-temperature interactions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4A4A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Chronological train-test split is essential for time-series evaluation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1600"/>
              </a:spcBef>
            </a:pPr>
            <a:r>
              <a:rPr lang="en-US" sz="1800" b="1" dirty="0">
                <a:solidFill>
                  <a:srgbClr val="B8733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Future Directions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4A4A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4A4A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LSTM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4A4A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networks for temporal sequence modeling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4A4A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Satellite cloud motion vectors for nowcasting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4A4A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4A4A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Ensemble methods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4A4A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probabilistic forecasting with uncertainty intervals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4A4A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Multi-location transfer learning to reduce data requirements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318000" y="7747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9067800"/>
            <a:ext cx="16256000" cy="76200"/>
          </a:xfrm>
          <a:prstGeom prst="rect">
            <a:avLst/>
          </a:prstGeom>
          <a:solidFill>
            <a:srgbClr val="B87333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Renewable Energy Output Prediction using ANN</dc:title>
  <dc:subject>Renewable Energy Output Prediction using ANN</dc:subject>
  <dc:creator>Kimi</dc:creator>
  <cp:lastModifiedBy>Kimi</cp:lastModifiedBy>
  <cp:revision>1</cp:revision>
  <dcterms:created xsi:type="dcterms:W3CDTF">2026-04-30T18:05:55Z</dcterms:created>
  <dcterms:modified xsi:type="dcterms:W3CDTF">2026-04-30T18:05:55Z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{"Label":"Renewable Energy Output Prediction using ANN","ContentProducer":"001191110108MACG2KBH8F10000","ProduceID":"19ddf5ed-e042-851f-8000-000077cbfae0","ReservedCode1":"","ContentPropagator":"001191110108MACG2KBH8F20000","PropagateID":"19ddf5ed-e042-851f-8000-000077cbfae0","ReservedCode2":""}</vt:lpwstr>
  </property>
</Properties>
</file>